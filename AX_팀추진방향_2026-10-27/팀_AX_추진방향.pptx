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팀장 → 팀 구성원 발표 스크립트 | 약 1분 40초~2분 (말하기 속도에 따라 달라짐)</a:t>
            </a:r>
          </a:p>
          <a:p/>
          <a:p>
            <a:r>
              <a:t>2026년에는 여러분의 관심과 참여 덕분에 우리 팀에 AI 활용 문화가 성공적으로 자리 잡았습니다. 새로운 방식을 받아들이고 실제 업무에 활용해 주신 노력에 감사드립니다. 그 과정에서 쌓은 경험과 노하우는 우리 팀이 다음 단계로 나아갈 수 있는 중요한 기반입니다.</a:t>
            </a:r>
          </a:p>
          <a:p/>
          <a:p>
            <a:r>
              <a:t>2027년에는 이 문화를 바탕으로 품질팀 전체 업무로 개선의 폭을 넓혀갑시다. 각자의 업무는 물론, 담당자 사이에 연결되는 과정까지 함께 살펴보고 팀 전체의 일하는 방식을 발전시키고자 합니다.</a:t>
            </a:r>
          </a:p>
          <a:p/>
          <a:p>
            <a:r>
              <a:t>품질 업무는 여러 담당자의 정보와 판단이 이어져 하나의 결과를 만드는 일입니다. 업무 사이의 연결까지 개선 범위를 넓히면, 올해 쌓은 AI 활용 경험을 팀 전체의 업무 효율과 품질 향상으로 이어갈 수 있습니다.</a:t>
            </a:r>
          </a:p>
          <a:p/>
          <a:p>
            <a:r>
              <a:t>그 과정에서 AI의 가능성과 우리가 쌓아 온 품질 전문성을 함께 살려가고자 합니다. 반복적인 일에 드는 부담을 덜고, 원인을 깊이 이해하고 문제를 예방하며 더 나은 판단을 내리는 데 우리의 역량을 집중할 수 있도록 하겠습니다.</a:t>
            </a:r>
          </a:p>
          <a:p/>
          <a:p>
            <a:r>
              <a:t>또한 각자의 좋은 시도와 경험이 동료에게도 도움이 되고, 함께 쌓은 경험이 새로운 개선으로 이어지는 팀을 만들고 싶습니다. 이런 변화가 품질팀 전체의 일하는 방식에 자연스럽게 자리 잡는 것이 우리가 지향하는 방향입니다.</a:t>
            </a:r>
          </a:p>
          <a:p/>
          <a:p>
            <a:r>
              <a:t>저도 업무 간 조정과 필요한 지원을 챙기겠습니다. 올해 함께 만들어 온 AI 활용 문화를 발판으로, 내년에는 품질팀 전체가 변화를 체감할 수 있도록 함께 개선의 폭을 넓혀갑시다.</a:t>
            </a:r>
          </a:p>
          <a:p/>
          <a:p>
            <a:r>
              <a:t>디자인 참고: https://github.com/VoltAgent/awesome-design-md/blob/main/design-md/apple/DESIGN.md</a:t>
            </a:r>
          </a:p>
          <a:p>
            <a:r>
              <a:t>2026년 AI 활용 문화의 성공적인 정착은 사용자 설명에 근거하며, 구체적인 개선 수치는 임의로 제시하지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374904"/>
            <a:ext cx="1529726" cy="2551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lang="ko-KR">
                <a:solidFill>
                  <a:srgbClr val="66666D"/>
                </a:solidFill>
                <a:latin typeface="Pretendard SemiBold"/>
                <a:ea typeface="Pretendard SemiBold"/>
                <a:cs typeface="Pretendard SemiBold"/>
              </a:rPr>
              <a:t>품질팀 AX · 추진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0392"/>
            <a:ext cx="6521279" cy="793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32" b="0" lang="ko-KR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’26년에 정착한 AI 활용 문화를,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96767" y="850392"/>
            <a:ext cx="5765934" cy="793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32" b="0" lang="ko-KR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’27년 품질팀 전체의 변화로.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0200"/>
            <a:ext cx="13432536" cy="3401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lang="ko-KR">
                <a:solidFill>
                  <a:srgbClr val="66666D"/>
                </a:solidFill>
                <a:latin typeface="Pretendard"/>
                <a:ea typeface="Pretendard"/>
                <a:cs typeface="Pretendard"/>
              </a:rPr>
              <a:t>성공적으로 정착한 AI 활용 문화를 바탕으로, 개선의 범위를 품질팀 전체 업무로 넓혀갑니다.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231136"/>
            <a:ext cx="4169663" cy="4297680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51176"/>
            <a:ext cx="1391852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lang="ko-KR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’26년 · 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3511296" cy="510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lang="ko-KR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AI 활용 문화의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3511296" cy="510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lang="ko-KR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성공적인 정착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3511296" cy="3401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lang="ko-KR">
                <a:solidFill>
                  <a:srgbClr val="4D4D54"/>
                </a:solidFill>
                <a:latin typeface="Pretendard"/>
                <a:ea typeface="Pretendard"/>
                <a:cs typeface="Pretendard"/>
              </a:rPr>
              <a:t>일상 업무 속 AI 활용 확산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3511296" cy="3401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lang="ko-KR">
                <a:solidFill>
                  <a:srgbClr val="4D4D54"/>
                </a:solidFill>
                <a:latin typeface="Pretendard"/>
                <a:ea typeface="Pretendard"/>
                <a:cs typeface="Pretendard"/>
              </a:rPr>
              <a:t>활용 경험과 노하우 축적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5779008"/>
            <a:ext cx="3511296" cy="0"/>
          </a:xfrm>
          <a:prstGeom prst="line">
            <a:avLst/>
          </a:prstGeom>
          <a:ln w="9144">
            <a:solidFill>
              <a:srgbClr val="DE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053328"/>
            <a:ext cx="394263" cy="2551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lang="ko-KR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기반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6025896"/>
            <a:ext cx="2999232" cy="2976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lang="ko-KR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팀이 함께 만든 변화의 기반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19472" y="4379976"/>
            <a:ext cx="237744" cy="0"/>
          </a:xfrm>
          <a:prstGeom prst="line">
            <a:avLst/>
          </a:prstGeom>
          <a:ln w="16459">
            <a:solidFill>
              <a:srgbClr val="A5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93208" y="4315968"/>
            <a:ext cx="64008" cy="64008"/>
          </a:xfrm>
          <a:prstGeom prst="line">
            <a:avLst/>
          </a:prstGeom>
          <a:ln w="16459">
            <a:solidFill>
              <a:srgbClr val="A5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093208" y="4379976"/>
            <a:ext cx="64008" cy="64008"/>
          </a:xfrm>
          <a:prstGeom prst="line">
            <a:avLst/>
          </a:prstGeom>
          <a:ln w="16459">
            <a:solidFill>
              <a:srgbClr val="A5A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40096" y="2231136"/>
            <a:ext cx="8705088" cy="4297680"/>
          </a:xfrm>
          <a:prstGeom prst="roundRect">
            <a:avLst>
              <a:gd name="adj" fmla="val 3829"/>
            </a:avLst>
          </a:prstGeom>
          <a:solidFill>
            <a:srgbClr val="272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551176"/>
            <a:ext cx="154097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lang="ko-KR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’27년 · 더 넓은 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008376"/>
            <a:ext cx="8046720" cy="5385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lang="ko-KR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품질팀 전체 업무로 개선 확대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739896"/>
            <a:ext cx="491132" cy="5385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lang="ko-KR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288536"/>
            <a:ext cx="2560320" cy="368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lang="ko-KR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업무의 연결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764024"/>
            <a:ext cx="2560320" cy="311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lang="ko-KR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전체 흐름을 함께 개선해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093208"/>
            <a:ext cx="2560320" cy="311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lang="ko-KR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팀의 효율과 품질을 높입니다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39896"/>
            <a:ext cx="541031" cy="5385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lang="ko-KR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88536"/>
            <a:ext cx="2560320" cy="368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lang="ko-KR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품질 전문성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64024"/>
            <a:ext cx="2560320" cy="311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lang="ko-KR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AI로 반복 업무 부담을 덜고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93208"/>
            <a:ext cx="2560320" cy="311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lang="ko-KR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판단·예방·해결에 집중합니다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3739896"/>
            <a:ext cx="551211" cy="5385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lang="ko-KR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4288536"/>
            <a:ext cx="2560320" cy="368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0" lang="ko-KR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팀 전체의 역량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4764024"/>
            <a:ext cx="2560320" cy="311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lang="ko-KR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각자의 개선 경험을 함께 쌓아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5093208"/>
            <a:ext cx="2560320" cy="311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lang="ko-KR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새로운 개선으로 이어갑니다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0" y="3749039"/>
            <a:ext cx="0" cy="1700785"/>
          </a:xfrm>
          <a:prstGeom prst="line">
            <a:avLst/>
          </a:prstGeom>
          <a:ln w="9144">
            <a:solidFill>
              <a:srgbClr val="565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972800" y="3749039"/>
            <a:ext cx="0" cy="1700785"/>
          </a:xfrm>
          <a:prstGeom prst="line">
            <a:avLst/>
          </a:prstGeom>
          <a:ln w="9144">
            <a:solidFill>
              <a:srgbClr val="565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69280" y="5779008"/>
            <a:ext cx="8046720" cy="0"/>
          </a:xfrm>
          <a:prstGeom prst="line">
            <a:avLst/>
          </a:prstGeom>
          <a:ln w="9144">
            <a:solidFill>
              <a:srgbClr val="454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0" y="6053328"/>
            <a:ext cx="536531" cy="2551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lang="ko-KR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지향점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025896"/>
            <a:ext cx="7132320" cy="3118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lang="ko-KR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업무 효율과 품질 역량이 함께 높아지는 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5216" y="6986016"/>
            <a:ext cx="13459968" cy="0"/>
          </a:xfrm>
          <a:prstGeom prst="line">
            <a:avLst/>
          </a:prstGeom>
          <a:ln w="9144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5216" y="7223760"/>
            <a:ext cx="1898165" cy="2267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 lang="ko-KR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2027년, 우리가 함께 만들 변화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7498079"/>
            <a:ext cx="13459968" cy="4251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lang="ko-KR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함께 만든 AI 활용 문화를, 품질팀 모두가 체감하는 변화로.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2026년에 정착한 AI 활용 문화를, 2027년 품질팀 전체의 변화로</dc:title>
  <dc:subject>2026년 AI 활용 문화의 성공적인 정착을 바탕으로 품질팀 전체 업무의 개선을 확대하는 2027년 방향</dc:subject>
  <dc:creator>팀 AX 추진 방향</dc:creator>
  <cp:keywords>AX, E2E, PI, As-Is, To-Be, 업무 효율화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