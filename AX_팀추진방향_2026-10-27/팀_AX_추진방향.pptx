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팀장 → 팀 구성원 발표 스크립트 | 약 1분 40초~2분 (말하기 속도에 따라 달라짐)</a:t>
            </a:r>
          </a:p>
          <a:p/>
          <a:p>
            <a:r>
              <a:t>2026년에는 여러분의 관심과 참여 덕분에 AI 활용 문화가 성공적으로 자리 잡고, 앞으로 나아갈 기반도 마련됐습니다. 함께 변화를 만들어 주신 여러분께 감사드립니다.</a:t>
            </a:r>
          </a:p>
          <a:p/>
          <a:p>
            <a:r>
              <a:t>2027년에는 이 기반 위에서 AI 활용을 품질팀 전체 업무로 확대하고자 합니다. 우리의 개선이 업무 효율과 품질 수준을 높이고, 실제 경영효과까지 이어지도록 도전의 폭을 넓혀갑시다.</a:t>
            </a:r>
          </a:p>
          <a:p/>
          <a:p>
            <a:r>
              <a:t>첫 번째 방향은 E2E 프로세스 재설계입니다. 업무의 시작부터 최종 결과까지 연결해서 바라보고, 기존 업무를 AI 중심으로 전환하겠습니다. 개별 업무와 담당자 사이의 연결까지 함께 발전시켜, 최종적인 경영효과를 만들어가자는 의미입니다.</a:t>
            </a:r>
          </a:p>
          <a:p/>
          <a:p>
            <a:r>
              <a:t>두 번째는 품질 전문성 강화입니다. AI로 반복 업무의 부담을 줄이고, 우리는 품질 판단과 예방, 해결에 더 집중하고자 합니다. 현장에서 쌓아 온 경험과 전문성이 더 큰 가치를 발휘할 수 있도록 나아갑시다.</a:t>
            </a:r>
          </a:p>
          <a:p/>
          <a:p>
            <a:r>
              <a:t>세 번째는 품질 가치 창출입니다. AI를 활용한 새로운 방식의 이상 검출로 문제를 더 일찍 발견하고 예방할 가능성을 넓혀가겠습니다. 이를 통해 고객 Claim Zero라는 목표에 다가가는 것이 우리의 포부입니다.</a:t>
            </a:r>
          </a:p>
          <a:p/>
          <a:p>
            <a:r>
              <a:t>궁극적으로는 품질팀 전 업무를 AI가 실행하는 Agentic AI 운영 체제로 전환하는 방향을 지향하겠습니다. 그 과정에서 우리의 품질 전문성과 판단은 더욱 중요해질 것입니다.</a:t>
            </a:r>
          </a:p>
          <a:p/>
          <a:p>
            <a:r>
              <a:t>저도 필요한 지원을 함께 챙기겠습니다. 올해 함께 만든 기반을 발판으로, 내년에는 품질팀 전체와 고객이 체감하는 변화를 만들어 갑시다.</a:t>
            </a:r>
          </a:p>
          <a:p/>
          <a:p>
            <a:r>
              <a:t>디자인 참고: https://github.com/VoltAgent/awesome-design-md/blob/main/design-md/apple/DESIGN.md</a:t>
            </a:r>
          </a:p>
          <a:p>
            <a:r>
              <a:t>2026년 AI 활용 문화의 성공적인 정착은 사용자 설명에 근거하며, 구체적인 개선 수치는 임의로 제시하지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374904"/>
            <a:ext cx="1529726" cy="2551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96" b="0" lang="ko-KR">
                <a:solidFill>
                  <a:srgbClr val="66666D"/>
                </a:solidFill>
                <a:latin typeface="Pretendard SemiBold"/>
                <a:ea typeface="Pretendard SemiBold"/>
                <a:cs typeface="Pretendard SemiBold"/>
              </a:rPr>
              <a:t>품질팀 AX · 추진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50392"/>
            <a:ext cx="5654921" cy="7936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2" b="0" lang="ko-KR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’26년 AI 활용 기반 마련 →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30409" y="850392"/>
            <a:ext cx="7440144" cy="7936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2" b="0" lang="ko-KR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’27년 전 영역 확산 및 품질 가치 창출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0200"/>
            <a:ext cx="13432536" cy="3401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8" b="0" lang="ko-KR">
                <a:solidFill>
                  <a:srgbClr val="66666D"/>
                </a:solidFill>
                <a:latin typeface="Pretendard"/>
                <a:ea typeface="Pretendard"/>
                <a:cs typeface="Pretendard"/>
              </a:rPr>
              <a:t>성공적으로 정착한 AI 활용 문화를 바탕으로, 개선의 범위를 품질팀 전체 업무로 넓혀갑니다.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2231136"/>
            <a:ext cx="4169663" cy="4297680"/>
          </a:xfrm>
          <a:prstGeom prst="roundRect">
            <a:avLst>
              <a:gd name="adj" fmla="val 3947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51176"/>
            <a:ext cx="1391852" cy="2834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ko-KR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’26년 · 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3511296" cy="5102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92" b="0" lang="ko-KR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AI 활용 문화의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93008"/>
            <a:ext cx="3511296" cy="5102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92" b="0" lang="ko-KR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성공적인 정착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62272"/>
            <a:ext cx="3511296" cy="3401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8" b="0" lang="ko-KR">
                <a:solidFill>
                  <a:srgbClr val="4D4D54"/>
                </a:solidFill>
                <a:latin typeface="Pretendard"/>
                <a:ea typeface="Pretendard"/>
                <a:cs typeface="Pretendard"/>
              </a:rPr>
              <a:t>일상 업무 속 AI 활용 확산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46320"/>
            <a:ext cx="3511296" cy="3401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8" b="0" lang="ko-KR">
                <a:solidFill>
                  <a:srgbClr val="4D4D54"/>
                </a:solidFill>
                <a:latin typeface="Pretendard"/>
                <a:ea typeface="Pretendard"/>
                <a:cs typeface="Pretendard"/>
              </a:rPr>
              <a:t>활용 경험과 노하우 축적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4400" y="5779008"/>
            <a:ext cx="3511296" cy="0"/>
          </a:xfrm>
          <a:prstGeom prst="line">
            <a:avLst/>
          </a:prstGeom>
          <a:ln w="9144">
            <a:solidFill>
              <a:srgbClr val="DEDE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14400" y="6053328"/>
            <a:ext cx="394263" cy="2551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96" b="0" lang="ko-KR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기반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6464" y="6025896"/>
            <a:ext cx="2999232" cy="2976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0" lang="ko-KR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팀이 함께 만든 변화의 기반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919472" y="4379976"/>
            <a:ext cx="237744" cy="0"/>
          </a:xfrm>
          <a:prstGeom prst="line">
            <a:avLst/>
          </a:prstGeom>
          <a:ln w="16459">
            <a:solidFill>
              <a:srgbClr val="A5A5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093208" y="4315968"/>
            <a:ext cx="64008" cy="64008"/>
          </a:xfrm>
          <a:prstGeom prst="line">
            <a:avLst/>
          </a:prstGeom>
          <a:ln w="16459">
            <a:solidFill>
              <a:srgbClr val="A5A5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093208" y="4379976"/>
            <a:ext cx="64008" cy="64008"/>
          </a:xfrm>
          <a:prstGeom prst="line">
            <a:avLst/>
          </a:prstGeom>
          <a:ln w="16459">
            <a:solidFill>
              <a:srgbClr val="A5A5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40096" y="2231136"/>
            <a:ext cx="8705088" cy="4297680"/>
          </a:xfrm>
          <a:prstGeom prst="roundRect">
            <a:avLst>
              <a:gd name="adj" fmla="val 3829"/>
            </a:avLst>
          </a:prstGeom>
          <a:solidFill>
            <a:srgbClr val="272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2551176"/>
            <a:ext cx="1540978" cy="2834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ko-KR">
                <a:solidFill>
                  <a:srgbClr val="2997FF"/>
                </a:solidFill>
                <a:latin typeface="Pretendard SemiBold"/>
                <a:ea typeface="Pretendard SemiBold"/>
                <a:cs typeface="Pretendard SemiBold"/>
              </a:rPr>
              <a:t>’27년 · 더 넓은 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3008376"/>
            <a:ext cx="8046720" cy="5385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36" b="0" lang="ko-KR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품질팀 전체 업무 대상 AI 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3739896"/>
            <a:ext cx="417837" cy="5385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36" b="0" lang="ko-KR">
                <a:solidFill>
                  <a:srgbClr val="2997FF"/>
                </a:solidFill>
                <a:latin typeface="Pretendard SemiBold"/>
                <a:ea typeface="Pretendard SemiBold"/>
                <a:cs typeface="Pretendard SemiBold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4288536"/>
            <a:ext cx="2560320" cy="3685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0" lang="ko-KR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E2E 프로세스 재설계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4764024"/>
            <a:ext cx="2560320" cy="311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ko-KR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기존 업무를 AI 전환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5093208"/>
            <a:ext cx="2560320" cy="311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ko-KR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→ 최종 경영효과까지 연결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739896"/>
            <a:ext cx="417837" cy="5385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36" b="0" lang="ko-KR">
                <a:solidFill>
                  <a:srgbClr val="2997FF"/>
                </a:solidFill>
                <a:latin typeface="Pretendard SemiBold"/>
                <a:ea typeface="Pretendard SemiBold"/>
                <a:cs typeface="Pretendard SemiBold"/>
              </a:rPr>
              <a:t>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288536"/>
            <a:ext cx="2560320" cy="3685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0" lang="ko-KR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품질 전문성 강화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764024"/>
            <a:ext cx="2560320" cy="311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ko-KR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AI로 반복 업무 감소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5093208"/>
            <a:ext cx="2560320" cy="311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ko-KR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→ 품질 판단·예방·해결에 집중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3739896"/>
            <a:ext cx="417837" cy="5385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36" b="0" lang="ko-KR">
                <a:solidFill>
                  <a:srgbClr val="2997FF"/>
                </a:solidFill>
                <a:latin typeface="Pretendard SemiBold"/>
                <a:ea typeface="Pretendard SemiBold"/>
                <a:cs typeface="Pretendard SemiBold"/>
              </a:rPr>
              <a:t>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4288536"/>
            <a:ext cx="2560320" cy="3685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2" b="0" lang="ko-KR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품질 가치 창출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4764024"/>
            <a:ext cx="2560320" cy="311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ko-KR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AI 활용 신개념 이상 검출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5093208"/>
            <a:ext cx="2560320" cy="311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ko-KR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→ 고객 Claim Zero 달성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9600" y="3749039"/>
            <a:ext cx="0" cy="1700785"/>
          </a:xfrm>
          <a:prstGeom prst="line">
            <a:avLst/>
          </a:prstGeom>
          <a:ln w="9144">
            <a:solidFill>
              <a:srgbClr val="565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972800" y="3749039"/>
            <a:ext cx="0" cy="1700785"/>
          </a:xfrm>
          <a:prstGeom prst="line">
            <a:avLst/>
          </a:prstGeom>
          <a:ln w="9144">
            <a:solidFill>
              <a:srgbClr val="565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80" y="5779008"/>
            <a:ext cx="8046720" cy="0"/>
          </a:xfrm>
          <a:prstGeom prst="line">
            <a:avLst/>
          </a:prstGeom>
          <a:ln w="9144">
            <a:solidFill>
              <a:srgbClr val="4545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669280" y="6053328"/>
            <a:ext cx="536531" cy="2551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96" b="0" lang="ko-KR">
                <a:solidFill>
                  <a:srgbClr val="A1A1A6"/>
                </a:solidFill>
                <a:latin typeface="Pretendard"/>
                <a:ea typeface="Pretendard"/>
                <a:cs typeface="Pretendard"/>
              </a:rPr>
              <a:t>지향점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6025896"/>
            <a:ext cx="7132320" cy="311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4" b="0" lang="ko-KR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품질팀 전 업무를 AI가 실행하는 Agentic AI 운영 체제로 전환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85216" y="6986016"/>
            <a:ext cx="13459968" cy="0"/>
          </a:xfrm>
          <a:prstGeom prst="line">
            <a:avLst/>
          </a:prstGeom>
          <a:ln w="9144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85216" y="7223760"/>
            <a:ext cx="1898165" cy="2267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lang="ko-KR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2027년, 우리가 함께 만들 변화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" y="7498079"/>
            <a:ext cx="13459968" cy="4251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60" b="0" lang="ko-KR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함께 만든 AI 활용 문화를, 품질팀 모두가 체감하는 변화로.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’26년 AI 활용 기반 마련 → ’27년 전 영역 확산 및 품질 가치 창출</dc:title>
  <dc:subject>E2E 프로세스 재설계, 품질 전문성 강화, 품질 가치 창출과 Agentic AI 운영 체제로의 전환</dc:subject>
  <dc:creator>팀 AX 추진 방향</dc:creator>
  <cp:keywords>AX, E2E, PI, As-Is, To-Be, 업무 효율화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